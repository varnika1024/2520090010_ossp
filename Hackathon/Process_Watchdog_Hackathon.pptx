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C7919CB5-60AC-CBBD-E7B8-B9ED77B69F0B}">
          <p14:sldIdLst>
            <p14:sldId id="256"/>
          </p14:sldIdLst>
        </p14:section>
        <p14:section name="Problem" id="{F51FCA2D-BDA2-75D4-3C19-CAE4357B328F}">
          <p14:sldIdLst>
            <p14:sldId id="257"/>
            <p14:sldId id="258"/>
          </p14:sldIdLst>
        </p14:section>
        <p14:section name="Design" id="{F4B25B26-5782-53B1-7820-D38646A91B35}">
          <p14:sldIdLst>
            <p14:sldId id="259"/>
            <p14:sldId id="260"/>
            <p14:sldId id="261"/>
          </p14:sldIdLst>
        </p14:section>
        <p14:section name="Build" id="{2F4AE303-4C90-78A4-52CB-1D49B95506B3}">
          <p14:sldIdLst>
            <p14:sldId id="262"/>
            <p14:sldId id="263"/>
            <p14:sldId id="264"/>
            <p14:sldId id="265"/>
          </p14:sldIdLst>
        </p14:section>
        <p14:section name="Proof" id="{8683A3F8-30DA-276F-7A9B-E39D781143B4}">
          <p14:sldIdLst>
            <p14:sldId id="266"/>
            <p14:sldId id="267"/>
            <p14:sldId id="268"/>
          </p14:sldIdLst>
        </p14:section>
        <p14:section name="Close" id="{BBA0FE6E-FB27-DCF1-7FC4-B4D84954435B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8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217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02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7D8C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102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46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7D8C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2026  |  17.10.2026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Process Watchdog and Auto-Restart System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A7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monitor selected processes. Restart them automatically when they die.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16•   Members: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Devaji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Rasmika , Varnika Komali, Lahari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320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F7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watchdog --watch nginx,worker.py --restart-on-exit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7D8C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02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processes die, silently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crashed service means downtime, lost requests and manual firefighting at 3 AM.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46888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 a lightweight system that notices a termination within seconds and brings the process back, with no human in the loop.</a:t>
            </a:r>
            <a:endParaRPr lang="en-US" sz="1600" dirty="0"/>
          </a:p>
        </p:txBody>
      </p:sp>
      <p:sp>
        <p:nvSpPr>
          <p:cNvPr id="5" name="problem-card-0"/>
          <p:cNvSpPr/>
          <p:nvPr/>
        </p:nvSpPr>
        <p:spPr>
          <a:xfrm>
            <a:off x="5029200" y="118872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EEF4F1"/>
          </a:solidFill>
          <a:ln/>
        </p:spPr>
      </p:sp>
      <p:sp>
        <p:nvSpPr>
          <p:cNvPr id="6" name="dot0"/>
          <p:cNvSpPr/>
          <p:nvPr/>
        </p:nvSpPr>
        <p:spPr>
          <a:xfrm>
            <a:off x="5212080" y="1417320"/>
            <a:ext cx="457200" cy="45720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85216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Segfault, unhandled exception, OOM kill</a:t>
            </a:r>
            <a:endParaRPr lang="en-US" sz="1400" dirty="0"/>
          </a:p>
        </p:txBody>
      </p:sp>
      <p:sp>
        <p:nvSpPr>
          <p:cNvPr id="9" name="problem-card-1"/>
          <p:cNvSpPr/>
          <p:nvPr/>
        </p:nvSpPr>
        <p:spPr>
          <a:xfrm>
            <a:off x="5029200" y="228600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EEF4F1"/>
          </a:solidFill>
          <a:ln/>
        </p:spPr>
      </p:sp>
      <p:sp>
        <p:nvSpPr>
          <p:cNvPr id="10" name="dot1"/>
          <p:cNvSpPr/>
          <p:nvPr/>
        </p:nvSpPr>
        <p:spPr>
          <a:xfrm>
            <a:off x="5212080" y="2514600"/>
            <a:ext cx="457200" cy="45720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5216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Accidental kill -9 or kill -15</a:t>
            </a:r>
            <a:endParaRPr lang="en-US" sz="1400" dirty="0"/>
          </a:p>
        </p:txBody>
      </p:sp>
      <p:sp>
        <p:nvSpPr>
          <p:cNvPr id="13" name="problem-card-2"/>
          <p:cNvSpPr/>
          <p:nvPr/>
        </p:nvSpPr>
        <p:spPr>
          <a:xfrm>
            <a:off x="5029200" y="338328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EEF4F1"/>
          </a:solidFill>
          <a:ln/>
        </p:spPr>
      </p:sp>
      <p:sp>
        <p:nvSpPr>
          <p:cNvPr id="14" name="dot2"/>
          <p:cNvSpPr/>
          <p:nvPr/>
        </p:nvSpPr>
        <p:spPr>
          <a:xfrm>
            <a:off x="5212080" y="3611880"/>
            <a:ext cx="457200" cy="457200"/>
          </a:xfrm>
          <a:prstGeom prst="ellipse">
            <a:avLst/>
          </a:prstGeom>
          <a:solidFill>
            <a:srgbClr val="3B82A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85216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exit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quits, nobody notices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46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02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obj-0"/>
          <p:cNvSpPr/>
          <p:nvPr/>
        </p:nvSpPr>
        <p:spPr>
          <a:xfrm>
            <a:off x="457200" y="137160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EEF4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user-defined list of processes continuously</a:t>
            </a:r>
            <a:endParaRPr lang="en-US" sz="1400" dirty="0"/>
          </a:p>
        </p:txBody>
      </p:sp>
      <p:sp>
        <p:nvSpPr>
          <p:cNvPr id="7" name="obj-1"/>
          <p:cNvSpPr/>
          <p:nvPr/>
        </p:nvSpPr>
        <p:spPr>
          <a:xfrm>
            <a:off x="2532888" y="137160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EEF4F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15768" y="1554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715768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715768" y="274320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unexpected termination within one polling interval</a:t>
            </a:r>
            <a:endParaRPr lang="en-US" sz="1400" dirty="0"/>
          </a:p>
        </p:txBody>
      </p:sp>
      <p:sp>
        <p:nvSpPr>
          <p:cNvPr id="11" name="obj-2"/>
          <p:cNvSpPr/>
          <p:nvPr/>
        </p:nvSpPr>
        <p:spPr>
          <a:xfrm>
            <a:off x="4608576" y="137160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EEF4F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91456" y="1554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791456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791456" y="274320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Relaunch automatically with a safe restart policy</a:t>
            </a:r>
            <a:endParaRPr lang="en-US" sz="1400" dirty="0"/>
          </a:p>
        </p:txBody>
      </p:sp>
      <p:sp>
        <p:nvSpPr>
          <p:cNvPr id="15" name="obj-3"/>
          <p:cNvSpPr/>
          <p:nvPr/>
        </p:nvSpPr>
        <p:spPr>
          <a:xfrm>
            <a:off x="6684264" y="137160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EEF4F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67144" y="1554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6867144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867144" y="274320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event so failures can be audited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46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02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arch-0"/>
          <p:cNvSpPr/>
          <p:nvPr/>
        </p:nvSpPr>
        <p:spPr>
          <a:xfrm>
            <a:off x="457200" y="12801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1C3A3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(JSON / YAML)</a:t>
            </a:r>
            <a:endParaRPr lang="en-US" sz="1600" dirty="0"/>
          </a:p>
        </p:txBody>
      </p:sp>
      <p:sp>
        <p:nvSpPr>
          <p:cNvPr id="5" name="arch-1"/>
          <p:cNvSpPr/>
          <p:nvPr/>
        </p:nvSpPr>
        <p:spPr>
          <a:xfrm>
            <a:off x="3108960" y="12801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2BB67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108960" y="12801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Monitor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(poll loop)</a:t>
            </a:r>
            <a:endParaRPr lang="en-US" sz="1600" dirty="0"/>
          </a:p>
        </p:txBody>
      </p:sp>
      <p:sp>
        <p:nvSpPr>
          <p:cNvPr id="7" name="arch-2"/>
          <p:cNvSpPr/>
          <p:nvPr/>
        </p:nvSpPr>
        <p:spPr>
          <a:xfrm>
            <a:off x="5760720" y="12801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5A5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760720" y="12801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Engine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(policy + backoff)</a:t>
            </a:r>
            <a:endParaRPr lang="en-US" sz="1600" dirty="0"/>
          </a:p>
        </p:txBody>
      </p:sp>
      <p:sp>
        <p:nvSpPr>
          <p:cNvPr id="9" name="arch-3"/>
          <p:cNvSpPr/>
          <p:nvPr/>
        </p:nvSpPr>
        <p:spPr>
          <a:xfrm>
            <a:off x="3108960" y="32004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5F746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108960" y="32004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1600" dirty="0"/>
          </a:p>
        </p:txBody>
      </p:sp>
      <p:sp>
        <p:nvSpPr>
          <p:cNvPr id="11" name="arch-4"/>
          <p:cNvSpPr/>
          <p:nvPr/>
        </p:nvSpPr>
        <p:spPr>
          <a:xfrm>
            <a:off x="5760720" y="32004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3B82A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760720" y="32004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Logger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(file + console)</a:t>
            </a:r>
            <a:endParaRPr lang="en-US" sz="1600" dirty="0"/>
          </a:p>
        </p:txBody>
      </p:sp>
      <p:sp>
        <p:nvSpPr>
          <p:cNvPr id="13" name="arrow"/>
          <p:cNvSpPr/>
          <p:nvPr/>
        </p:nvSpPr>
        <p:spPr>
          <a:xfrm>
            <a:off x="2468880" y="1783080"/>
            <a:ext cx="640080" cy="0"/>
          </a:xfrm>
          <a:prstGeom prst="line">
            <a:avLst/>
          </a:prstGeom>
          <a:noFill/>
          <a:ln w="25400">
            <a:solidFill>
              <a:srgbClr val="5F746C"/>
            </a:solidFill>
            <a:prstDash val="solid"/>
            <a:tailEnd type="triangle"/>
          </a:ln>
        </p:spPr>
      </p:sp>
      <p:sp>
        <p:nvSpPr>
          <p:cNvPr id="14" name="arrow"/>
          <p:cNvSpPr/>
          <p:nvPr/>
        </p:nvSpPr>
        <p:spPr>
          <a:xfrm>
            <a:off x="5120640" y="1783080"/>
            <a:ext cx="640080" cy="0"/>
          </a:xfrm>
          <a:prstGeom prst="line">
            <a:avLst/>
          </a:prstGeom>
          <a:noFill/>
          <a:ln w="25400">
            <a:solidFill>
              <a:srgbClr val="5F746C"/>
            </a:solidFill>
            <a:prstDash val="solid"/>
            <a:tailEnd type="triangle"/>
          </a:ln>
        </p:spPr>
      </p:sp>
      <p:sp>
        <p:nvSpPr>
          <p:cNvPr id="15" name="arrow"/>
          <p:cNvSpPr/>
          <p:nvPr/>
        </p:nvSpPr>
        <p:spPr>
          <a:xfrm>
            <a:off x="4114800" y="2286000"/>
            <a:ext cx="0" cy="914400"/>
          </a:xfrm>
          <a:prstGeom prst="line">
            <a:avLst/>
          </a:prstGeom>
          <a:noFill/>
          <a:ln w="25400">
            <a:solidFill>
              <a:srgbClr val="5F746C"/>
            </a:solidFill>
            <a:prstDash val="solid"/>
            <a:headEnd type="triangle"/>
            <a:tailEnd type="triangle"/>
          </a:ln>
        </p:spPr>
      </p:sp>
      <p:sp>
        <p:nvSpPr>
          <p:cNvPr id="16" name="arrow"/>
          <p:cNvSpPr/>
          <p:nvPr/>
        </p:nvSpPr>
        <p:spPr>
          <a:xfrm>
            <a:off x="6766560" y="2286000"/>
            <a:ext cx="0" cy="914400"/>
          </a:xfrm>
          <a:prstGeom prst="line">
            <a:avLst/>
          </a:prstGeom>
          <a:noFill/>
          <a:ln w="25400">
            <a:solidFill>
              <a:srgbClr val="5F746C"/>
            </a:solidFill>
            <a:prstDash val="solid"/>
            <a:tailEnd type="triangle"/>
          </a:ln>
        </p:spPr>
      </p:sp>
      <p:sp>
        <p:nvSpPr>
          <p:cNvPr id="17" name="arrow"/>
          <p:cNvSpPr/>
          <p:nvPr/>
        </p:nvSpPr>
        <p:spPr>
          <a:xfrm flipH="1">
            <a:off x="4937760" y="2286000"/>
            <a:ext cx="1097280" cy="914400"/>
          </a:xfrm>
          <a:prstGeom prst="line">
            <a:avLst/>
          </a:prstGeom>
          <a:noFill/>
          <a:ln w="25400">
            <a:solidFill>
              <a:srgbClr val="5F746C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4572000" y="2560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relaunch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2004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checks each PID. On a dead process, the Restart Engine applies the policy, relaunches it and logs the event.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2606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46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02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watchdog loop works</a:t>
            </a:r>
            <a:endParaRPr lang="en-US" sz="3200" dirty="0"/>
          </a:p>
        </p:txBody>
      </p:sp>
      <p:sp>
        <p:nvSpPr>
          <p:cNvPr id="3" name="step-circle-0"/>
          <p:cNvSpPr/>
          <p:nvPr/>
        </p:nvSpPr>
        <p:spPr>
          <a:xfrm>
            <a:off x="868680" y="1371600"/>
            <a:ext cx="640080" cy="64008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060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process table every N seconds</a:t>
            </a:r>
            <a:endParaRPr lang="en-US" sz="1400" dirty="0"/>
          </a:p>
        </p:txBody>
      </p:sp>
      <p:sp>
        <p:nvSpPr>
          <p:cNvPr id="7" name="flow-arrow0"/>
          <p:cNvSpPr/>
          <p:nvPr/>
        </p:nvSpPr>
        <p:spPr>
          <a:xfrm>
            <a:off x="1554480" y="1691640"/>
            <a:ext cx="548640" cy="0"/>
          </a:xfrm>
          <a:prstGeom prst="line">
            <a:avLst/>
          </a:prstGeom>
          <a:noFill/>
          <a:ln w="25400">
            <a:solidFill>
              <a:srgbClr val="A7D8C0"/>
            </a:solidFill>
            <a:prstDash val="solid"/>
            <a:tailEnd type="triangle"/>
          </a:ln>
        </p:spPr>
      </p:sp>
      <p:sp>
        <p:nvSpPr>
          <p:cNvPr id="8" name="step-circle-1"/>
          <p:cNvSpPr/>
          <p:nvPr/>
        </p:nvSpPr>
        <p:spPr>
          <a:xfrm>
            <a:off x="2532888" y="1371600"/>
            <a:ext cx="640080" cy="64008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532888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121408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121408" y="26060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missing or state is dead/zombie</a:t>
            </a:r>
            <a:endParaRPr lang="en-US" sz="1400" dirty="0"/>
          </a:p>
        </p:txBody>
      </p:sp>
      <p:sp>
        <p:nvSpPr>
          <p:cNvPr id="12" name="flow-arrow1"/>
          <p:cNvSpPr/>
          <p:nvPr/>
        </p:nvSpPr>
        <p:spPr>
          <a:xfrm>
            <a:off x="3218688" y="1691640"/>
            <a:ext cx="548640" cy="0"/>
          </a:xfrm>
          <a:prstGeom prst="line">
            <a:avLst/>
          </a:prstGeom>
          <a:noFill/>
          <a:ln w="25400">
            <a:solidFill>
              <a:srgbClr val="A7D8C0"/>
            </a:solidFill>
            <a:prstDash val="solid"/>
            <a:tailEnd type="triangle"/>
          </a:ln>
        </p:spPr>
      </p:sp>
      <p:sp>
        <p:nvSpPr>
          <p:cNvPr id="13" name="step-circle-2"/>
          <p:cNvSpPr/>
          <p:nvPr/>
        </p:nvSpPr>
        <p:spPr>
          <a:xfrm>
            <a:off x="4197096" y="1371600"/>
            <a:ext cx="640080" cy="64008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197096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785616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785616" y="26060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retry count and cool-down</a:t>
            </a:r>
            <a:endParaRPr lang="en-US" sz="1400" dirty="0"/>
          </a:p>
        </p:txBody>
      </p:sp>
      <p:sp>
        <p:nvSpPr>
          <p:cNvPr id="17" name="flow-arrow2"/>
          <p:cNvSpPr/>
          <p:nvPr/>
        </p:nvSpPr>
        <p:spPr>
          <a:xfrm>
            <a:off x="4882896" y="1691640"/>
            <a:ext cx="548640" cy="0"/>
          </a:xfrm>
          <a:prstGeom prst="line">
            <a:avLst/>
          </a:prstGeom>
          <a:noFill/>
          <a:ln w="25400">
            <a:solidFill>
              <a:srgbClr val="A7D8C0"/>
            </a:solidFill>
            <a:prstDash val="solid"/>
            <a:tailEnd type="triangle"/>
          </a:ln>
        </p:spPr>
      </p:sp>
      <p:sp>
        <p:nvSpPr>
          <p:cNvPr id="18" name="step-circle-3"/>
          <p:cNvSpPr/>
          <p:nvPr/>
        </p:nvSpPr>
        <p:spPr>
          <a:xfrm>
            <a:off x="5861304" y="1371600"/>
            <a:ext cx="640080" cy="64008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61304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5449824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449824" y="26060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command with same arguments</a:t>
            </a:r>
            <a:endParaRPr lang="en-US" sz="1400" dirty="0"/>
          </a:p>
        </p:txBody>
      </p:sp>
      <p:sp>
        <p:nvSpPr>
          <p:cNvPr id="22" name="flow-arrow3"/>
          <p:cNvSpPr/>
          <p:nvPr/>
        </p:nvSpPr>
        <p:spPr>
          <a:xfrm>
            <a:off x="6547104" y="1691640"/>
            <a:ext cx="548640" cy="0"/>
          </a:xfrm>
          <a:prstGeom prst="line">
            <a:avLst/>
          </a:prstGeom>
          <a:noFill/>
          <a:ln w="25400">
            <a:solidFill>
              <a:srgbClr val="A7D8C0"/>
            </a:solidFill>
            <a:prstDash val="solid"/>
            <a:tailEnd type="triangle"/>
          </a:ln>
        </p:spPr>
      </p:sp>
      <p:sp>
        <p:nvSpPr>
          <p:cNvPr id="23" name="step-circle-4"/>
          <p:cNvSpPr/>
          <p:nvPr/>
        </p:nvSpPr>
        <p:spPr>
          <a:xfrm>
            <a:off x="7525512" y="1371600"/>
            <a:ext cx="640080" cy="64008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525512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7114032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114032" y="26060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time, reason, new PID</a:t>
            </a:r>
            <a:endParaRPr lang="en-US" sz="1400" dirty="0"/>
          </a:p>
        </p:txBody>
      </p:sp>
      <p:sp>
        <p:nvSpPr>
          <p:cNvPr id="27" name="loop-note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EF4F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5800" y="37490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repeats forever. Between cycles the watchdog sleeps, so CPU usage stays negligible.</a:t>
            </a:r>
            <a:endParaRPr lang="en-US" sz="16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46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02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feat-0"/>
          <p:cNvSpPr/>
          <p:nvPr/>
        </p:nvSpPr>
        <p:spPr>
          <a:xfrm>
            <a:off x="457200" y="128016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4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Auto-restart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Relaunches any watched process that exits unexpectedly</a:t>
            </a:r>
            <a:endParaRPr lang="en-US" sz="1400" dirty="0"/>
          </a:p>
        </p:txBody>
      </p:sp>
      <p:sp>
        <p:nvSpPr>
          <p:cNvPr id="6" name="feat-1"/>
          <p:cNvSpPr/>
          <p:nvPr/>
        </p:nvSpPr>
        <p:spPr>
          <a:xfrm>
            <a:off x="3246120" y="128016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4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limits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745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retries within a time window stops crash loops</a:t>
            </a:r>
            <a:endParaRPr lang="en-US" sz="1400" dirty="0"/>
          </a:p>
        </p:txBody>
      </p:sp>
      <p:sp>
        <p:nvSpPr>
          <p:cNvPr id="9" name="feat-2"/>
          <p:cNvSpPr/>
          <p:nvPr/>
        </p:nvSpPr>
        <p:spPr>
          <a:xfrm>
            <a:off x="6035040" y="128016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4F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8745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longer after each consecutive failure</a:t>
            </a:r>
            <a:endParaRPr lang="en-US" sz="1400" dirty="0"/>
          </a:p>
        </p:txBody>
      </p:sp>
      <p:sp>
        <p:nvSpPr>
          <p:cNvPr id="12" name="feat-3"/>
          <p:cNvSpPr/>
          <p:nvPr/>
        </p:nvSpPr>
        <p:spPr>
          <a:xfrm>
            <a:off x="457200" y="29718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4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154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remove processes in a file, no code change</a:t>
            </a:r>
            <a:endParaRPr lang="en-US" sz="1400" dirty="0"/>
          </a:p>
        </p:txBody>
      </p:sp>
      <p:sp>
        <p:nvSpPr>
          <p:cNvPr id="15" name="feat-4"/>
          <p:cNvSpPr/>
          <p:nvPr/>
        </p:nvSpPr>
        <p:spPr>
          <a:xfrm>
            <a:off x="3246120" y="29718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4F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29000" y="3154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events for crashes and restarts</a:t>
            </a:r>
            <a:endParaRPr lang="en-US" sz="1400" dirty="0"/>
          </a:p>
        </p:txBody>
      </p:sp>
      <p:sp>
        <p:nvSpPr>
          <p:cNvPr id="18" name="feat-5"/>
          <p:cNvSpPr/>
          <p:nvPr/>
        </p:nvSpPr>
        <p:spPr>
          <a:xfrm>
            <a:off x="6035040" y="29718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EF4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3154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shutdown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SIGINT/SIGTERM and exits cleanly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46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02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3" name="tech-dot0"/>
          <p:cNvSpPr/>
          <p:nvPr/>
        </p:nvSpPr>
        <p:spPr>
          <a:xfrm>
            <a:off x="548640" y="1325880"/>
            <a:ext cx="274320" cy="27432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51560" y="1234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(Ubuntu)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931920" y="1234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OS, /proc process table</a:t>
            </a:r>
            <a:endParaRPr lang="en-US" sz="1400" dirty="0"/>
          </a:p>
        </p:txBody>
      </p:sp>
      <p:sp>
        <p:nvSpPr>
          <p:cNvPr id="6" name="tech-dot1"/>
          <p:cNvSpPr/>
          <p:nvPr/>
        </p:nvSpPr>
        <p:spPr>
          <a:xfrm>
            <a:off x="548640" y="1874520"/>
            <a:ext cx="274320" cy="27432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1783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watchdog logic</a:t>
            </a:r>
            <a:endParaRPr lang="en-US" sz="1400" dirty="0"/>
          </a:p>
        </p:txBody>
      </p:sp>
      <p:sp>
        <p:nvSpPr>
          <p:cNvPr id="9" name="tech-dot2"/>
          <p:cNvSpPr/>
          <p:nvPr/>
        </p:nvSpPr>
        <p:spPr>
          <a:xfrm>
            <a:off x="548640" y="2423160"/>
            <a:ext cx="274320" cy="27432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2331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psutil / subprocess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2331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inspection and spawning</a:t>
            </a:r>
            <a:endParaRPr lang="en-US" sz="1400" dirty="0"/>
          </a:p>
        </p:txBody>
      </p:sp>
      <p:sp>
        <p:nvSpPr>
          <p:cNvPr id="12" name="tech-dot3"/>
          <p:cNvSpPr/>
          <p:nvPr/>
        </p:nvSpPr>
        <p:spPr>
          <a:xfrm>
            <a:off x="548640" y="2971800"/>
            <a:ext cx="274320" cy="27432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YAML config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2880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Watched processes and policies</a:t>
            </a:r>
            <a:endParaRPr lang="en-US" sz="1400" dirty="0"/>
          </a:p>
        </p:txBody>
      </p:sp>
      <p:sp>
        <p:nvSpPr>
          <p:cNvPr id="15" name="tech-dot4"/>
          <p:cNvSpPr/>
          <p:nvPr/>
        </p:nvSpPr>
        <p:spPr>
          <a:xfrm>
            <a:off x="548640" y="3520440"/>
            <a:ext cx="274320" cy="27432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51560" y="3429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3429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watchdog itself running at boot</a:t>
            </a:r>
            <a:endParaRPr lang="en-US" sz="1400" dirty="0"/>
          </a:p>
        </p:txBody>
      </p:sp>
      <p:sp>
        <p:nvSpPr>
          <p:cNvPr id="18" name="tech-dot5"/>
          <p:cNvSpPr/>
          <p:nvPr/>
        </p:nvSpPr>
        <p:spPr>
          <a:xfrm>
            <a:off x="548640" y="4069080"/>
            <a:ext cx="274320" cy="27432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51560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3977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documentation</a:t>
            </a:r>
            <a:endParaRPr lang="en-US" sz="1400" dirty="0"/>
          </a:p>
        </p:txBody>
      </p:sp>
      <p:sp>
        <p:nvSpPr>
          <p:cNvPr id="21" name="term-panel"/>
          <p:cNvSpPr/>
          <p:nvPr/>
        </p:nvSpPr>
        <p:spPr>
          <a:xfrm>
            <a:off x="6949440" y="1234440"/>
            <a:ext cx="1737360" cy="3200400"/>
          </a:xfrm>
          <a:prstGeom prst="roundRect">
            <a:avLst>
              <a:gd name="adj" fmla="val 4211"/>
            </a:avLst>
          </a:prstGeom>
          <a:solidFill>
            <a:srgbClr val="10201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086600" y="1371600"/>
            <a:ext cx="1508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B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ps -e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B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kill -9 4821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B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[WARN] svc gone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B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restart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B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pid 5033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46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02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approach</a:t>
            </a:r>
            <a:endParaRPr lang="en-US" sz="3200" dirty="0"/>
          </a:p>
        </p:txBody>
      </p:sp>
      <p:sp>
        <p:nvSpPr>
          <p:cNvPr id="3" name="repo-panel"/>
          <p:cNvSpPr/>
          <p:nvPr/>
        </p:nvSpPr>
        <p:spPr>
          <a:xfrm>
            <a:off x="457200" y="123444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10201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watchdog/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watchdog.py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monitor.py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restarter.py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logger.py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config.json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tests/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B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monitor.py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5361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each target by name or PID and reports its state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2057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B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restarter.py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4048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retry limits and backoff, then relaunches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2926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B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logger.py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2735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timestamped events to a log file and console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3794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B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watchdog.py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41422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loop, config loading, signal handling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46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02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and restart policy</a:t>
            </a:r>
            <a:endParaRPr lang="en-US" sz="3200" dirty="0"/>
          </a:p>
        </p:txBody>
      </p:sp>
      <p:sp>
        <p:nvSpPr>
          <p:cNvPr id="3" name="config-panel"/>
          <p:cNvSpPr/>
          <p:nvPr/>
        </p:nvSpPr>
        <p:spPr>
          <a:xfrm>
            <a:off x="457200" y="1234440"/>
            <a:ext cx="4754880" cy="3291840"/>
          </a:xfrm>
          <a:prstGeom prst="roundRect">
            <a:avLst>
              <a:gd name="adj" fmla="val 2222"/>
            </a:avLst>
          </a:prstGeom>
          <a:solidFill>
            <a:srgbClr val="10201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4389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"interval_sec": 2,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"processes": [{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"worker",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"cmd": "python3 worker.py",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"max_retries": 5,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"window_sec": 60,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"backoff": "exponential"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7D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policy-0"/>
          <p:cNvSpPr/>
          <p:nvPr/>
        </p:nvSpPr>
        <p:spPr>
          <a:xfrm>
            <a:off x="5486400" y="12344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EEF4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0" y="1325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limit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16642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5 failures in 60 s, stop and raise an alert</a:t>
            </a:r>
            <a:endParaRPr lang="en-US" sz="1400" dirty="0"/>
          </a:p>
        </p:txBody>
      </p:sp>
      <p:sp>
        <p:nvSpPr>
          <p:cNvPr id="8" name="policy-1"/>
          <p:cNvSpPr/>
          <p:nvPr/>
        </p:nvSpPr>
        <p:spPr>
          <a:xfrm>
            <a:off x="5486400" y="23774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EEF4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0" y="2468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28072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1 s, 2 s, 4 s ... between attempts</a:t>
            </a:r>
            <a:endParaRPr lang="en-US" sz="1400" dirty="0"/>
          </a:p>
        </p:txBody>
      </p:sp>
      <p:sp>
        <p:nvSpPr>
          <p:cNvPr id="11" name="policy-2"/>
          <p:cNvSpPr/>
          <p:nvPr/>
        </p:nvSpPr>
        <p:spPr>
          <a:xfrm>
            <a:off x="5486400" y="35204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EEF4F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0" y="3611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Per-process rules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0" y="39502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target has its own command and limits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46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and safe by design</a:t>
            </a:r>
            <a:endParaRPr lang="en-US" sz="3200" dirty="0"/>
          </a:p>
        </p:txBody>
      </p:sp>
      <p:sp>
        <p:nvSpPr>
          <p:cNvPr id="3" name="safe-0"/>
          <p:cNvSpPr/>
          <p:nvPr/>
        </p:nvSpPr>
        <p:spPr>
          <a:xfrm>
            <a:off x="457200" y="13258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C3A3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Touches only processes listed in the config, never anything else</a:t>
            </a:r>
            <a:endParaRPr lang="en-US" sz="1400" dirty="0"/>
          </a:p>
        </p:txBody>
      </p:sp>
      <p:sp>
        <p:nvSpPr>
          <p:cNvPr id="6" name="safe-1"/>
          <p:cNvSpPr/>
          <p:nvPr/>
        </p:nvSpPr>
        <p:spPr>
          <a:xfrm>
            <a:off x="4663440" y="13258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C3A3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9204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Unprivileged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659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a normal user, no root needed for the demo</a:t>
            </a:r>
            <a:endParaRPr lang="en-US" sz="1400" dirty="0"/>
          </a:p>
        </p:txBody>
      </p:sp>
      <p:sp>
        <p:nvSpPr>
          <p:cNvPr id="9" name="safe-2"/>
          <p:cNvSpPr/>
          <p:nvPr/>
        </p:nvSpPr>
        <p:spPr>
          <a:xfrm>
            <a:off x="457200" y="28803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C3A3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520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dummy processes in an isolated environment</a:t>
            </a:r>
            <a:endParaRPr lang="en-US" sz="1400" dirty="0"/>
          </a:p>
        </p:txBody>
      </p:sp>
      <p:sp>
        <p:nvSpPr>
          <p:cNvPr id="12" name="safe-3"/>
          <p:cNvSpPr/>
          <p:nvPr/>
        </p:nvSpPr>
        <p:spPr>
          <a:xfrm>
            <a:off x="4663440" y="28803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C3A3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520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limits prevent restart storms and resource exhaustion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7D8C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02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validation</a:t>
            </a:r>
            <a:endParaRPr lang="en-US" sz="3200" dirty="0"/>
          </a:p>
        </p:txBody>
      </p:sp>
      <p:graphicFrame>
        <p:nvGraphicFramePr>
          <p:cNvPr id="12" name="tes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0175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crash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-9 &lt;pid&gt;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Detected and restarted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Graceful stop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-15 &lt;pid&gt;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Detected and restarted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Self-exit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calls exit(1)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Restarted with new PID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Crash loop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fails at launch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Backoff, then stop at limit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targets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two at once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2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restarted independently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case is scripted in tests/ and the outcome is checked from the log file.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46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02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demonstration plan</a:t>
            </a:r>
            <a:endParaRPr lang="en-US" sz="3200" dirty="0"/>
          </a:p>
        </p:txBody>
      </p:sp>
      <p:sp>
        <p:nvSpPr>
          <p:cNvPr id="3" name="demo-n0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188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11887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watchdog with the sample config</a:t>
            </a:r>
            <a:endParaRPr lang="en-US" sz="1600" dirty="0"/>
          </a:p>
        </p:txBody>
      </p:sp>
      <p:sp>
        <p:nvSpPr>
          <p:cNvPr id="7" name="demo-n1"/>
          <p:cNvSpPr/>
          <p:nvPr/>
        </p:nvSpPr>
        <p:spPr>
          <a:xfrm>
            <a:off x="548640" y="1892808"/>
            <a:ext cx="457200" cy="45720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84708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184708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target running (ps / top)</a:t>
            </a:r>
            <a:endParaRPr lang="en-US" sz="1600" dirty="0"/>
          </a:p>
        </p:txBody>
      </p:sp>
      <p:sp>
        <p:nvSpPr>
          <p:cNvPr id="11" name="demo-n2"/>
          <p:cNvSpPr/>
          <p:nvPr/>
        </p:nvSpPr>
        <p:spPr>
          <a:xfrm>
            <a:off x="548640" y="2551176"/>
            <a:ext cx="457200" cy="45720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50545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250545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kill -9 on the target PID</a:t>
            </a:r>
            <a:endParaRPr lang="en-US" sz="1600" dirty="0"/>
          </a:p>
        </p:txBody>
      </p:sp>
      <p:sp>
        <p:nvSpPr>
          <p:cNvPr id="15" name="demo-n3"/>
          <p:cNvSpPr/>
          <p:nvPr/>
        </p:nvSpPr>
        <p:spPr>
          <a:xfrm>
            <a:off x="548640" y="3209544"/>
            <a:ext cx="457200" cy="45720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16382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316382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log: detect, restart, new PID</a:t>
            </a:r>
            <a:endParaRPr lang="en-US" sz="1600" dirty="0"/>
          </a:p>
        </p:txBody>
      </p:sp>
      <p:sp>
        <p:nvSpPr>
          <p:cNvPr id="19" name="demo-n4"/>
          <p:cNvSpPr/>
          <p:nvPr/>
        </p:nvSpPr>
        <p:spPr>
          <a:xfrm>
            <a:off x="548640" y="3867912"/>
            <a:ext cx="457200" cy="457200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82219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2743200" y="382219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 crash loop and show backoff and the limit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46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02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and impact</a:t>
            </a:r>
            <a:endParaRPr lang="en-US" sz="3200" dirty="0"/>
          </a:p>
        </p:txBody>
      </p:sp>
      <p:sp>
        <p:nvSpPr>
          <p:cNvPr id="3" name="stat-0"/>
          <p:cNvSpPr/>
          <p:nvPr/>
        </p:nvSpPr>
        <p:spPr>
          <a:xfrm>
            <a:off x="457200" y="12801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EEF4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time: one polling interval (configurable)</a:t>
            </a:r>
            <a:endParaRPr lang="en-US" sz="1400" dirty="0"/>
          </a:p>
        </p:txBody>
      </p:sp>
      <p:sp>
        <p:nvSpPr>
          <p:cNvPr id="6" name="stat-1"/>
          <p:cNvSpPr/>
          <p:nvPr/>
        </p:nvSpPr>
        <p:spPr>
          <a:xfrm>
            <a:off x="3246120" y="12801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EEF4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1417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87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2860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steps needed to recover a crashed process</a:t>
            </a:r>
            <a:endParaRPr lang="en-US" sz="1400" dirty="0"/>
          </a:p>
        </p:txBody>
      </p:sp>
      <p:sp>
        <p:nvSpPr>
          <p:cNvPr id="9" name="stat-2"/>
          <p:cNvSpPr/>
          <p:nvPr/>
        </p:nvSpPr>
        <p:spPr>
          <a:xfrm>
            <a:off x="6035040" y="128016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EEF4F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417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B8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2860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recorded in the audit log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0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higher availability, less downtime, less manual ops work. Same idea scales to services, workers and long-running jobs.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46C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Slack alerts on repeated failure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 (HTTP, port) beyond PID checks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and memory threshold restarts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for live status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B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6" name="repo-card"/>
          <p:cNvSpPr/>
          <p:nvPr/>
        </p:nvSpPr>
        <p:spPr>
          <a:xfrm>
            <a:off x="6126480" y="137160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1C3A3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30936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11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github.com/[team]/process-watchdog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7D8C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tchdog">
  <a:themeElements>
    <a:clrScheme name="Watchdog">
      <a:dk1>
        <a:srgbClr val="10201B"/>
      </a:dk1>
      <a:lt1>
        <a:srgbClr val="FFFFFF"/>
      </a:lt1>
      <a:dk2>
        <a:srgbClr val="1C3A31"/>
      </a:dk2>
      <a:lt2>
        <a:srgbClr val="EEF4F1"/>
      </a:lt2>
      <a:accent1>
        <a:srgbClr val="2BB673"/>
      </a:accent1>
      <a:accent2>
        <a:srgbClr val="F5A524"/>
      </a:accent2>
      <a:accent3>
        <a:srgbClr val="E5484D"/>
      </a:accent3>
      <a:accent4>
        <a:srgbClr val="3B82A0"/>
      </a:accent4>
      <a:accent5>
        <a:srgbClr val="5F746C"/>
      </a:accent5>
      <a:accent6>
        <a:srgbClr val="A7D8C0"/>
      </a:accent6>
      <a:hlink>
        <a:srgbClr val="2BB673"/>
      </a:hlink>
      <a:folHlink>
        <a:srgbClr val="5F746C"/>
      </a:folHlink>
    </a:clrScheme>
    <a:fontScheme name="Watchdo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889</Words>
  <Application>Microsoft Office PowerPoint</Application>
  <PresentationFormat>On-screen Show (16:9)</PresentationFormat>
  <Paragraphs>213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Watchdog</vt:lpstr>
      <vt:lpstr>PowerPoint Presentation</vt:lpstr>
      <vt:lpstr>The problem: processes die, silently</vt:lpstr>
      <vt:lpstr>Objectives</vt:lpstr>
      <vt:lpstr>System architecture</vt:lpstr>
      <vt:lpstr>How the watchdog loop works</vt:lpstr>
      <vt:lpstr>Key features</vt:lpstr>
      <vt:lpstr>Technologies used</vt:lpstr>
      <vt:lpstr>Implementation approach</vt:lpstr>
      <vt:lpstr>Configuration and restart policy</vt:lpstr>
      <vt:lpstr>PowerPoint Presentation</vt:lpstr>
      <vt:lpstr>Testing and validation</vt:lpstr>
      <vt:lpstr>Live demonstration plan</vt:lpstr>
      <vt:lpstr>Results and impact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Process Watchdog and Auto-Restart System</dc:title>
  <dc:subject>PptxGenJS Presentation</dc:subject>
  <dc:creator>PptxGenJS</dc:creator>
  <cp:lastModifiedBy>lahari a</cp:lastModifiedBy>
  <cp:revision>2</cp:revision>
  <dcterms:created xsi:type="dcterms:W3CDTF">2026-10-17T04:40:13Z</dcterms:created>
  <dcterms:modified xsi:type="dcterms:W3CDTF">2026-10-17T04:43:50Z</dcterms:modified>
</cp:coreProperties>
</file>